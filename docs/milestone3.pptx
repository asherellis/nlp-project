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hkKbNF2b//JmMti00LaJstM0VMb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sher Ellis"/>
  <p:cmAuthor clrIdx="1" id="1" initials="" lastIdx="5" name="Chih Yu Tsai"/>
  <p:cmAuthor clrIdx="2" id="2" initials="" lastIdx="3" name="Risha Kuma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02T13:59:23.560">
    <p:pos x="6000" y="0"/>
    <p:text>add speaker notes</p:text>
    <p:extLst>
      <p:ext uri="{C676402C-5697-4E1C-873F-D02D1690AC5C}">
        <p15:threadingInfo timeZoneBias="0"/>
      </p:ext>
      <p:ext uri="http://customooxmlschemas.google.com/">
        <go:slidesCustomData xmlns:go="http://customooxmlschemas.google.com/" commentPostId="AAABw8bILuM"/>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2-02T17:34:50.255">
    <p:pos x="6000" y="0"/>
    <p:text>review</p:text>
    <p:extLst>
      <p:ext uri="{C676402C-5697-4E1C-873F-D02D1690AC5C}">
        <p15:threadingInfo timeZoneBias="0"/>
      </p:ext>
      <p:ext uri="http://customooxmlschemas.google.com/">
        <go:slidesCustomData xmlns:go="http://customooxmlschemas.google.com/" commentPostId="AAABuc2T1Gs"/>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5-12-05T05:14:11.069">
    <p:pos x="288" y="173"/>
    <p:text>Probably talk about
1. customized tokenizer we adapted from NLTK?
2. Also load the question sets jsonl
3.</p:text>
    <p:extLst>
      <p:ext uri="{C676402C-5697-4E1C-873F-D02D1690AC5C}">
        <p15:threadingInfo timeZoneBias="0"/>
      </p:ext>
      <p:ext uri="http://customooxmlschemas.google.com/">
        <go:slidesCustomData xmlns:go="http://customooxmlschemas.google.com/" commentPostId="AAABxC4uTvw"/>
      </p:ext>
    </p:extLst>
  </p:cm>
  <p:cm authorId="2" idx="1" dt="2025-12-01T21:37:15.876">
    <p:pos x="288" y="1008"/>
    <p:text>may need to add more detail here</p:text>
    <p:extLst>
      <p:ext uri="{C676402C-5697-4E1C-873F-D02D1690AC5C}">
        <p15:threadingInfo timeZoneBias="0"/>
      </p:ext>
      <p:ext uri="http://customooxmlschemas.google.com/">
        <go:slidesCustomData xmlns:go="http://customooxmlschemas.google.com/" commentPostId="AAABucUpzDg"/>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5-12-05T05:15:14.520">
    <p:pos x="288" y="1008"/>
    <p:text>maybe highlight this:
For structured JSON: uses existing sentence IDs (e.g., 'S1', 'S2')
For plain text: generates sentence IDs (e.g., 'S1', 'S2', 'S3')
?</p:text>
    <p:extLst>
      <p:ext uri="{C676402C-5697-4E1C-873F-D02D1690AC5C}">
        <p15:threadingInfo timeZoneBias="0"/>
      </p:ext>
      <p:ext uri="http://customooxmlschemas.google.com/">
        <go:slidesCustomData xmlns:go="http://customooxmlschemas.google.com/" commentPostId="AAABxC4uTv0"/>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5-12-08T19:03:32.373">
    <p:pos x="288" y="1008"/>
    <p:text>added.</p:text>
    <p:extLst>
      <p:ext uri="{C676402C-5697-4E1C-873F-D02D1690AC5C}">
        <p15:threadingInfo timeZoneBias="0"/>
      </p:ext>
      <p:ext uri="http://customooxmlschemas.google.com/">
        <go:slidesCustomData xmlns:go="http://customooxmlschemas.google.com/" commentPostId="AAABxQAdRqQ"/>
      </p:ext>
    </p:extLst>
  </p:cm>
  <p:cm authorId="2" idx="2" dt="2025-12-01T21:38:54.219">
    <p:pos x="288" y="1108"/>
    <p:text>any chunking?</p:text>
    <p:extLst>
      <p:ext uri="{C676402C-5697-4E1C-873F-D02D1690AC5C}">
        <p15:threadingInfo timeZoneBias="0"/>
      </p:ext>
      <p:ext uri="http://customooxmlschemas.google.com/">
        <go:slidesCustomData xmlns:go="http://customooxmlschemas.google.com/" commentPostId="AAABucUpzDk"/>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3" dt="2025-12-01T21:39:41.397">
    <p:pos x="288" y="1008"/>
    <p:text>are we doing dense retrieval too? embeddings?</p:text>
    <p:extLst>
      <p:ext uri="{C676402C-5697-4E1C-873F-D02D1690AC5C}">
        <p15:threadingInfo timeZoneBias="0"/>
      </p:ext>
      <p:ext uri="http://customooxmlschemas.google.com/">
        <go:slidesCustomData xmlns:go="http://customooxmlschemas.google.com/" commentPostId="AAABucUpzDo"/>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5-12-08T19:19:01.760">
    <p:pos x="288" y="1008"/>
    <p:text>add</p:text>
    <p:extLst>
      <p:ext uri="{C676402C-5697-4E1C-873F-D02D1690AC5C}">
        <p15:threadingInfo timeZoneBias="0"/>
      </p:ext>
      <p:ext uri="http://customooxmlschemas.google.com/">
        <go:slidesCustomData xmlns:go="http://customooxmlschemas.google.com/" commentPostId="AAABxQAdRqk"/>
      </p:ext>
    </p:extLst>
  </p:cm>
  <p:cm authorId="1" idx="5" dt="2025-12-08T19:21:47.666">
    <p:pos x="288" y="1108"/>
    <p:text>3.21?</p:text>
    <p:extLst>
      <p:ext uri="{C676402C-5697-4E1C-873F-D02D1690AC5C}">
        <p15:threadingInfo timeZoneBias="0"/>
      </p:ext>
      <p:ext uri="http://customooxmlschemas.google.com/">
        <go:slidesCustomData xmlns:go="http://customooxmlschemas.google.com/" commentPostId="AAABxQAdRq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12f5ebe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912f5ebe6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12f5ebe63_0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g3912f5ebe63_0_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Intelligence analysts need to synthesize information quickly but accurately. They </a:t>
            </a:r>
            <a:r>
              <a:rPr lang="en-US"/>
              <a:t>require</a:t>
            </a:r>
            <a:r>
              <a:rPr lang="en-US">
                <a:solidFill>
                  <a:schemeClr val="dk1"/>
                </a:solidFill>
              </a:rPr>
              <a:t> reliable traceability for where you got your information from. Current LLMs are fast but can hallucinate, while manual reading is accurate but too slow and tedious. Our project aims to bridge this gap.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
        <p:nvSpPr>
          <p:cNvPr id="89" name="Google Shape;89;g3912f5ebe63_0_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cacfe4bc0_0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g3acacfe4bc0_0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acacfe4bc0_0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cacfe4bc0_0_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g3acacfe4bc0_0_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acacfe4bc0_0_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12f5ebe63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g3912f5ebe63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Unlike some QA tasks, intelligence analysis </a:t>
            </a:r>
            <a:r>
              <a:rPr lang="en-US"/>
              <a:t>requires</a:t>
            </a:r>
            <a:r>
              <a:rPr lang="en-US"/>
              <a:t> reliable traceability for where you got your information from. Here, we require sentence-level citations. The refusal mechanism aims to prevent hallucination when documents don't contain relevant information.</a:t>
            </a:r>
            <a:endParaRPr/>
          </a:p>
        </p:txBody>
      </p:sp>
      <p:sp>
        <p:nvSpPr>
          <p:cNvPr id="110" name="Google Shape;110;g3912f5ebe63_0_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12f5ebe63_0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g3912f5ebe63_0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our Extension 1 implementation - a RAG system combining BM25 retrieval with LLM answer generation. We'll descriibe each component in the following slides.</a:t>
            </a:r>
            <a:endParaRPr/>
          </a:p>
        </p:txBody>
      </p:sp>
      <p:sp>
        <p:nvSpPr>
          <p:cNvPr id="117" name="Google Shape;117;g3912f5ebe63_0_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12f5ebe63_0_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g3912f5ebe63_0_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Our corpus is diverse to test retrieval across different document types. The dataset was carefully annotated with gold answers and citations for strong evaluation.</a:t>
            </a:r>
            <a:endParaRPr/>
          </a:p>
        </p:txBody>
      </p:sp>
      <p:sp>
        <p:nvSpPr>
          <p:cNvPr id="124" name="Google Shape;124;g3912f5ebe63_0_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12f5ebe63_0_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g3912f5ebe63_0_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912f5ebe63_0_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12f5ebe63_0_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g3912f5ebe63_0_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912f5ebe63_0_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12f5ebe63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g3912f5ebe63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BM25 - lets us retrieve top-5 documents by lexical match, then use the top-ranked document for answer generation. This provides a lower bound demonstrating that retrieval alone is insufficient for high-quality answers, but establishes baseline performance for retrieval and citation metrics</a:t>
            </a:r>
            <a:endParaRPr/>
          </a:p>
        </p:txBody>
      </p:sp>
      <p:sp>
        <p:nvSpPr>
          <p:cNvPr id="145" name="Google Shape;145;g3912f5ebe63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12f5ebe63_0_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g3912f5ebe63_0_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strong baseline demonstrates LLM generation capabilities but shows the importance of document grounding. Without retrieval or citations, the model cannot provide accountable, traceable answers even when it generates (seemingly) coherent text.</a:t>
            </a:r>
            <a:endParaRPr/>
          </a:p>
        </p:txBody>
      </p:sp>
      <p:sp>
        <p:nvSpPr>
          <p:cNvPr id="152" name="Google Shape;152;g3912f5ebe63_0_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12f5ebe63_0_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g3912f5ebe63_0_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Explain evaluation for edge cases: unanswerable examples get perfect score only when model refuses correctly.</a:t>
            </a:r>
            <a:endParaRPr/>
          </a:p>
          <a:p>
            <a:pPr indent="0" lvl="0" marL="0" rtl="0" algn="l">
              <a:spcBef>
                <a:spcPts val="0"/>
              </a:spcBef>
              <a:spcAft>
                <a:spcPts val="0"/>
              </a:spcAft>
              <a:buNone/>
            </a:pPr>
            <a:r>
              <a:rPr lang="en-US"/>
              <a:t>Discuss potential future like multi-source synthesis with provenance weighting </a:t>
            </a:r>
            <a:r>
              <a:rPr lang="en-US"/>
              <a:t>maybe?</a:t>
            </a:r>
            <a:endParaRPr/>
          </a:p>
        </p:txBody>
      </p:sp>
      <p:sp>
        <p:nvSpPr>
          <p:cNvPr id="160" name="Google Shape;160;g3912f5ebe63_0_1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13b7deb9b_0_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g3913b7deb9b_0_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67" name="Google Shape;167;g3913b7deb9b_0_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13b7deb9b_0_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g3913b7deb9b_0_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75" name="Google Shape;175;g3913b7deb9b_0_7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12f5ebe63_0_1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g3912f5ebe63_0_1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Walk through retrieval → rerank → select sentence → generate final answer with citation.</a:t>
            </a:r>
            <a:endParaRPr/>
          </a:p>
          <a:p>
            <a:pPr indent="0" lvl="0" marL="0" rtl="0" algn="l">
              <a:spcBef>
                <a:spcPts val="0"/>
              </a:spcBef>
              <a:spcAft>
                <a:spcPts val="0"/>
              </a:spcAft>
              <a:buNone/>
            </a:pPr>
            <a:r>
              <a:rPr lang="en-US"/>
              <a:t>Show how the system would refuse if ICJ doc was not in corpus.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t>
            </a:r>
            <a:r>
              <a:rPr lang="en-US"/>
              <a:t>his example shows Extension 1 working. The LLM generates a good answer (5/5) that captures all key points, showing the value of combining retrieval + generation. However, the evidence score (0.21) is low because the predicted citations (S19, S5, S7) differ from the gold standard (S9, S11, S17). So, word-overlap citation extraction can identify relevant sentences, but it may not always match the exact "best" sentences for citation. The combined score (0.61) reflects the mixed picture of strong answer quality and poor citation precision. It also reveals a limitation of the word-overlap citation method: it can identify semantically related sentences but doesn't always select the exact sentences that directly answer the question. </a:t>
            </a:r>
            <a:endParaRPr/>
          </a:p>
        </p:txBody>
      </p:sp>
      <p:sp>
        <p:nvSpPr>
          <p:cNvPr id="182" name="Google Shape;182;g3912f5ebe63_0_10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13b7deb9b_0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g3913b7deb9b_0_1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9" name="Google Shape;189;g3913b7deb9b_0_10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deloitte.com/us/en/insights/industry/government-public-sector-services/artificial-intelligence-impact-on-future-intelligence-analysis.html" TargetMode="External"/><Relationship Id="rId4" Type="http://schemas.openxmlformats.org/officeDocument/2006/relationships/hyperlink" Target="https://dl.acm.org/doi/10.1145/3744663" TargetMode="External"/><Relationship Id="rId5" Type="http://schemas.openxmlformats.org/officeDocument/2006/relationships/hyperlink" Target="https://arxiv.org/pdf/2508.11133" TargetMode="External"/><Relationship Id="rId6" Type="http://schemas.openxmlformats.org/officeDocument/2006/relationships/hyperlink" Target="https://www.sciencedirect.com/science/article/pii/S294971912400036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omments" Target="../comments/commen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12f5ebe63_0_0"/>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RAG-Based </a:t>
            </a:r>
            <a:r>
              <a:rPr lang="en-US" sz="4400">
                <a:solidFill>
                  <a:schemeClr val="dk1"/>
                </a:solidFill>
                <a:latin typeface="Calibri"/>
                <a:ea typeface="Calibri"/>
                <a:cs typeface="Calibri"/>
                <a:sym typeface="Calibri"/>
              </a:rPr>
              <a:t>QA Assistant for Intelligence Analysis</a:t>
            </a:r>
            <a:endParaRPr/>
          </a:p>
        </p:txBody>
      </p:sp>
      <p:sp>
        <p:nvSpPr>
          <p:cNvPr id="85" name="Google Shape;85;g3912f5ebe63_0_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0"/>
              </a:spcBef>
              <a:spcAft>
                <a:spcPts val="0"/>
              </a:spcAft>
              <a:buClr>
                <a:srgbClr val="888888"/>
              </a:buClr>
              <a:buSzPts val="3200"/>
              <a:buNone/>
            </a:pPr>
            <a:r>
              <a:rPr lang="en-US">
                <a:solidFill>
                  <a:srgbClr val="888888"/>
                </a:solidFill>
              </a:rPr>
              <a:t>Milestone 3 Presentation Draft</a:t>
            </a:r>
            <a:endParaRPr/>
          </a:p>
          <a:p>
            <a:pPr indent="0" lvl="0" marL="0" rtl="0" algn="ctr">
              <a:spcBef>
                <a:spcPts val="640"/>
              </a:spcBef>
              <a:spcAft>
                <a:spcPts val="0"/>
              </a:spcAft>
              <a:buClr>
                <a:srgbClr val="888888"/>
              </a:buClr>
              <a:buSzPts val="3200"/>
              <a:buNone/>
            </a:pPr>
            <a:r>
              <a:rPr lang="en-US" sz="2300"/>
              <a:t>Asher Ellis, </a:t>
            </a:r>
            <a:r>
              <a:rPr lang="en-US" sz="2300">
                <a:solidFill>
                  <a:srgbClr val="888888"/>
                </a:solidFill>
              </a:rPr>
              <a:t>Vincent Lin, Chih Yu Tsai, </a:t>
            </a:r>
            <a:r>
              <a:rPr lang="en-US" sz="2300"/>
              <a:t>Risha Kumar</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912f5ebe63_0_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What problem are we solving?</a:t>
            </a:r>
            <a:endParaRPr/>
          </a:p>
        </p:txBody>
      </p:sp>
      <p:sp>
        <p:nvSpPr>
          <p:cNvPr id="92" name="Google Shape;92;g3912f5ebe63_0_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Analysts face a trade-off: manual reading (accurate but slow) vs LLM summaries (fast but may hallucinate).</a:t>
            </a:r>
            <a:endParaRPr/>
          </a:p>
          <a:p>
            <a:pPr indent="-342900" lvl="0" marL="342900" rtl="0" algn="l">
              <a:spcBef>
                <a:spcPts val="360"/>
              </a:spcBef>
              <a:spcAft>
                <a:spcPts val="0"/>
              </a:spcAft>
              <a:buClr>
                <a:schemeClr val="dk1"/>
              </a:buClr>
              <a:buSzPts val="1800"/>
              <a:buChar char="•"/>
            </a:pPr>
            <a:r>
              <a:rPr lang="en-US" sz="1800"/>
              <a:t>Need a fast, trustworthy answers that show exactly where each claim came from.</a:t>
            </a:r>
            <a:endParaRPr/>
          </a:p>
          <a:p>
            <a:pPr indent="-342900" lvl="0" marL="342900" rtl="0" algn="l">
              <a:spcBef>
                <a:spcPts val="360"/>
              </a:spcBef>
              <a:spcAft>
                <a:spcPts val="0"/>
              </a:spcAft>
              <a:buClr>
                <a:schemeClr val="dk1"/>
              </a:buClr>
              <a:buSzPts val="1800"/>
              <a:buChar char="•"/>
            </a:pPr>
            <a:r>
              <a:rPr lang="en-US" sz="1800"/>
              <a:t>Goal: deliver concise, defensible answers with sentence-level citations from documents that </a:t>
            </a:r>
            <a:r>
              <a:rPr lang="en-US" sz="1800"/>
              <a:t>intelligence</a:t>
            </a:r>
            <a:r>
              <a:rPr lang="en-US" sz="1800"/>
              <a:t> analysts may access and need answers from.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acacfe4bc0_0_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Why is this exciting?</a:t>
            </a:r>
            <a:endParaRPr/>
          </a:p>
        </p:txBody>
      </p:sp>
      <p:sp>
        <p:nvSpPr>
          <p:cNvPr id="99" name="Google Shape;99;g3acacfe4bc0_0_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360"/>
              </a:spcBef>
              <a:spcAft>
                <a:spcPts val="0"/>
              </a:spcAft>
              <a:buClr>
                <a:schemeClr val="dk1"/>
              </a:buClr>
              <a:buSzPts val="1800"/>
              <a:buChar char="•"/>
            </a:pPr>
            <a:r>
              <a:rPr lang="en-US" sz="1800"/>
              <a:t>Real world problem: There's been an </a:t>
            </a:r>
            <a:r>
              <a:rPr lang="en-US" sz="1800" u="sng">
                <a:solidFill>
                  <a:schemeClr val="hlink"/>
                </a:solidFill>
                <a:hlinkClick r:id="rId3"/>
              </a:rPr>
              <a:t>explosion of data</a:t>
            </a:r>
            <a:r>
              <a:rPr lang="en-US" sz="1800"/>
              <a:t> for intelligence analysts, and a growing challenge of how to sift through it all.</a:t>
            </a:r>
            <a:endParaRPr sz="1800"/>
          </a:p>
          <a:p>
            <a:pPr indent="-342900" lvl="0" marL="342900" rtl="0" algn="l">
              <a:spcBef>
                <a:spcPts val="360"/>
              </a:spcBef>
              <a:spcAft>
                <a:spcPts val="0"/>
              </a:spcAft>
              <a:buSzPts val="1800"/>
              <a:buChar char="•"/>
            </a:pPr>
            <a:r>
              <a:rPr lang="en-US" sz="1800"/>
              <a:t>Technical challenge: information retrieval and </a:t>
            </a:r>
            <a:r>
              <a:rPr lang="en-US" sz="1800"/>
              <a:t>q</a:t>
            </a:r>
            <a:r>
              <a:rPr lang="en-US" sz="1800"/>
              <a:t>uestion-answering </a:t>
            </a:r>
            <a:r>
              <a:rPr lang="en-US" sz="1800" u="sng">
                <a:solidFill>
                  <a:schemeClr val="hlink"/>
                </a:solidFill>
                <a:hlinkClick r:id="rId4"/>
              </a:rPr>
              <a:t>is</a:t>
            </a:r>
            <a:r>
              <a:rPr lang="en-US" sz="1800"/>
              <a:t> </a:t>
            </a:r>
            <a:r>
              <a:rPr lang="en-US" sz="1800" u="sng">
                <a:solidFill>
                  <a:schemeClr val="hlink"/>
                </a:solidFill>
                <a:hlinkClick r:id="rId5"/>
              </a:rPr>
              <a:t>surprisingly</a:t>
            </a:r>
            <a:r>
              <a:rPr lang="en-US" sz="1800"/>
              <a:t> </a:t>
            </a:r>
            <a:r>
              <a:rPr lang="en-US" sz="1800" u="sng">
                <a:solidFill>
                  <a:schemeClr val="hlink"/>
                </a:solidFill>
                <a:hlinkClick r:id="rId6"/>
              </a:rPr>
              <a:t>complex</a:t>
            </a:r>
            <a:r>
              <a:rPr lang="en-US" sz="1800"/>
              <a:t>!</a:t>
            </a:r>
            <a:endParaRPr sz="1800"/>
          </a:p>
          <a:p>
            <a:pPr indent="-342900" lvl="0" marL="342900" rtl="0" algn="l">
              <a:spcBef>
                <a:spcPts val="360"/>
              </a:spcBef>
              <a:spcAft>
                <a:spcPts val="0"/>
              </a:spcAft>
              <a:buSzPts val="1800"/>
              <a:buChar char="•"/>
            </a:pPr>
            <a:r>
              <a:rPr lang="en-US" sz="1800"/>
              <a:t>Covers several key </a:t>
            </a:r>
            <a:r>
              <a:rPr lang="en-US" sz="1800"/>
              <a:t>tasks + concepts in NLP</a:t>
            </a:r>
            <a:r>
              <a:rPr lang="en-US" sz="1800"/>
              <a:t>:</a:t>
            </a:r>
            <a:endParaRPr sz="1800"/>
          </a:p>
          <a:p>
            <a:pPr indent="-285750" lvl="1" marL="742950" rtl="0" algn="l">
              <a:spcBef>
                <a:spcPts val="360"/>
              </a:spcBef>
              <a:spcAft>
                <a:spcPts val="0"/>
              </a:spcAft>
              <a:buSzPts val="1800"/>
              <a:buChar char="–"/>
            </a:pPr>
            <a:r>
              <a:rPr lang="en-US" sz="1800"/>
              <a:t>RAG (Retrieval-Augmented Generation)</a:t>
            </a:r>
            <a:endParaRPr sz="1800"/>
          </a:p>
          <a:p>
            <a:pPr indent="-285750" lvl="1" marL="742950" rtl="0" algn="l">
              <a:spcBef>
                <a:spcPts val="360"/>
              </a:spcBef>
              <a:spcAft>
                <a:spcPts val="0"/>
              </a:spcAft>
              <a:buSzPts val="1800"/>
              <a:buChar char="–"/>
            </a:pPr>
            <a:r>
              <a:rPr lang="en-US" sz="1800"/>
              <a:t>LLM-as-judge</a:t>
            </a:r>
            <a:endParaRPr sz="1800"/>
          </a:p>
          <a:p>
            <a:pPr indent="-285750" lvl="1" marL="742950" rtl="0" algn="l">
              <a:spcBef>
                <a:spcPts val="360"/>
              </a:spcBef>
              <a:spcAft>
                <a:spcPts val="0"/>
              </a:spcAft>
              <a:buSzPts val="1800"/>
              <a:buChar char="–"/>
            </a:pPr>
            <a:r>
              <a:rPr lang="en-US" sz="1800"/>
              <a:t>Evaluation of generation quality (faithfulness, grounding)</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acacfe4bc0_0_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Relevance to class</a:t>
            </a:r>
            <a:endParaRPr/>
          </a:p>
        </p:txBody>
      </p:sp>
      <p:sp>
        <p:nvSpPr>
          <p:cNvPr id="106" name="Google Shape;106;g3acacfe4bc0_0_1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360"/>
              </a:spcBef>
              <a:spcAft>
                <a:spcPts val="0"/>
              </a:spcAft>
              <a:buNone/>
            </a:pPr>
            <a:r>
              <a:rPr lang="en-US" sz="1800"/>
              <a:t>Retrieval:</a:t>
            </a:r>
            <a:r>
              <a:rPr lang="en-US" sz="1800"/>
              <a:t> </a:t>
            </a:r>
            <a:endParaRPr sz="1800"/>
          </a:p>
          <a:p>
            <a:pPr indent="-342900" lvl="0" marL="342900" rtl="0" algn="l">
              <a:spcBef>
                <a:spcPts val="360"/>
              </a:spcBef>
              <a:spcAft>
                <a:spcPts val="0"/>
              </a:spcAft>
              <a:buSzPts val="1800"/>
              <a:buChar char="•"/>
            </a:pPr>
            <a:r>
              <a:rPr lang="en-US" sz="1800"/>
              <a:t>BM25 lexical matching</a:t>
            </a:r>
            <a:endParaRPr sz="1800"/>
          </a:p>
          <a:p>
            <a:pPr indent="-342900" lvl="0" marL="342900" rtl="0" algn="l">
              <a:spcBef>
                <a:spcPts val="360"/>
              </a:spcBef>
              <a:spcAft>
                <a:spcPts val="0"/>
              </a:spcAft>
              <a:buSzPts val="1800"/>
              <a:buChar char="•"/>
            </a:pPr>
            <a:r>
              <a:rPr lang="en-US" sz="1800"/>
              <a:t>Tokenization (NLTK word_tokenize)</a:t>
            </a:r>
            <a:endParaRPr sz="1800"/>
          </a:p>
          <a:p>
            <a:pPr indent="0" lvl="0" marL="0" rtl="0" algn="l">
              <a:spcBef>
                <a:spcPts val="360"/>
              </a:spcBef>
              <a:spcAft>
                <a:spcPts val="0"/>
              </a:spcAft>
              <a:buNone/>
            </a:pPr>
            <a:r>
              <a:t/>
            </a:r>
            <a:endParaRPr sz="1800"/>
          </a:p>
          <a:p>
            <a:pPr indent="0" lvl="0" marL="0" rtl="0" algn="l">
              <a:spcBef>
                <a:spcPts val="360"/>
              </a:spcBef>
              <a:spcAft>
                <a:spcPts val="0"/>
              </a:spcAft>
              <a:buNone/>
            </a:pPr>
            <a:r>
              <a:rPr lang="en-US" sz="1800"/>
              <a:t>Generation:</a:t>
            </a:r>
            <a:endParaRPr sz="1800"/>
          </a:p>
          <a:p>
            <a:pPr indent="-342900" lvl="0" marL="342900" rtl="0" algn="l">
              <a:spcBef>
                <a:spcPts val="360"/>
              </a:spcBef>
              <a:spcAft>
                <a:spcPts val="0"/>
              </a:spcAft>
              <a:buSzPts val="1800"/>
              <a:buChar char="•"/>
            </a:pPr>
            <a:r>
              <a:rPr lang="en-US" sz="1800"/>
              <a:t>LLM text generation</a:t>
            </a:r>
            <a:endParaRPr sz="1800"/>
          </a:p>
          <a:p>
            <a:pPr indent="-342900" lvl="0" marL="342900" rtl="0" algn="l">
              <a:spcBef>
                <a:spcPts val="360"/>
              </a:spcBef>
              <a:spcAft>
                <a:spcPts val="0"/>
              </a:spcAft>
              <a:buSzPts val="1800"/>
              <a:buChar char="•"/>
            </a:pPr>
            <a:r>
              <a:rPr lang="en-US" sz="1800"/>
              <a:t>Prompt engineering and instruction-following</a:t>
            </a:r>
            <a:endParaRPr sz="1800"/>
          </a:p>
          <a:p>
            <a:pPr indent="0" lvl="0" marL="0" rtl="0" algn="l">
              <a:spcBef>
                <a:spcPts val="360"/>
              </a:spcBef>
              <a:spcAft>
                <a:spcPts val="0"/>
              </a:spcAft>
              <a:buNone/>
            </a:pPr>
            <a:r>
              <a:t/>
            </a:r>
            <a:endParaRPr sz="1800"/>
          </a:p>
          <a:p>
            <a:pPr indent="0" lvl="0" marL="0" rtl="0" algn="l">
              <a:spcBef>
                <a:spcPts val="360"/>
              </a:spcBef>
              <a:spcAft>
                <a:spcPts val="0"/>
              </a:spcAft>
              <a:buNone/>
            </a:pPr>
            <a:r>
              <a:rPr lang="en-US" sz="1800"/>
              <a:t>Evaluation</a:t>
            </a:r>
            <a:endParaRPr sz="1800"/>
          </a:p>
          <a:p>
            <a:pPr indent="-342900" lvl="0" marL="342900" rtl="0" algn="l">
              <a:spcBef>
                <a:spcPts val="360"/>
              </a:spcBef>
              <a:spcAft>
                <a:spcPts val="0"/>
              </a:spcAft>
              <a:buSzPts val="1800"/>
              <a:buChar char="•"/>
            </a:pPr>
            <a:r>
              <a:rPr lang="en-US" sz="1800"/>
              <a:t>Precision, recall, F1</a:t>
            </a:r>
            <a:endParaRPr sz="1800"/>
          </a:p>
          <a:p>
            <a:pPr indent="-342900" lvl="0" marL="342900" rtl="0" algn="l">
              <a:spcBef>
                <a:spcPts val="360"/>
              </a:spcBef>
              <a:spcAft>
                <a:spcPts val="0"/>
              </a:spcAft>
              <a:buSzPts val="1800"/>
              <a:buChar char="•"/>
            </a:pPr>
            <a:r>
              <a:rPr lang="en-US" sz="1800"/>
              <a:t>LLM-as-judge</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912f5ebe63_0_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Our task</a:t>
            </a:r>
            <a:endParaRPr/>
          </a:p>
        </p:txBody>
      </p:sp>
      <p:sp>
        <p:nvSpPr>
          <p:cNvPr id="113" name="Google Shape;113;g3912f5ebe63_0_1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Input: a natural-language question + corpus (open-source materials).</a:t>
            </a:r>
            <a:endParaRPr/>
          </a:p>
          <a:p>
            <a:pPr indent="-342900" lvl="0" marL="342900" rtl="0" algn="l">
              <a:spcBef>
                <a:spcPts val="360"/>
              </a:spcBef>
              <a:spcAft>
                <a:spcPts val="0"/>
              </a:spcAft>
              <a:buClr>
                <a:schemeClr val="dk1"/>
              </a:buClr>
              <a:buSzPts val="1800"/>
              <a:buChar char="•"/>
            </a:pPr>
            <a:r>
              <a:rPr lang="en-US" sz="1800"/>
              <a:t>Output: 2–4 sentence paraphrased answer + inline citations to exact sentence IDs.</a:t>
            </a:r>
            <a:endParaRPr/>
          </a:p>
          <a:p>
            <a:pPr indent="-342900" lvl="0" marL="342900" rtl="0" algn="l">
              <a:spcBef>
                <a:spcPts val="360"/>
              </a:spcBef>
              <a:spcAft>
                <a:spcPts val="0"/>
              </a:spcAft>
              <a:buClr>
                <a:schemeClr val="dk1"/>
              </a:buClr>
              <a:buSzPts val="1800"/>
              <a:buChar char="•"/>
            </a:pPr>
            <a:r>
              <a:rPr lang="en-US" sz="1800"/>
              <a:t>System should</a:t>
            </a:r>
            <a:r>
              <a:rPr lang="en-US" sz="1800"/>
              <a:t> refuse when evidence is insufficient or contradictory (e.g. print 'insufficient evidence').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912f5ebe63_0_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extLst>
                  <a:ext uri="http://customooxmlschemas.google.com/">
                    <go:slidesCustomData xmlns:go="http://customooxmlschemas.google.com/" textRoundtripDataId="0"/>
                  </a:ext>
                </a:extLst>
              </a:rPr>
              <a:t>Our Model at a High-Level</a:t>
            </a:r>
            <a:endParaRPr/>
          </a:p>
        </p:txBody>
      </p:sp>
      <p:sp>
        <p:nvSpPr>
          <p:cNvPr id="120" name="Google Shape;120;g3912f5ebe63_0_1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AutoNum type="arabicParenR"/>
            </a:pPr>
            <a:r>
              <a:rPr lang="en-US" sz="1800">
                <a:extLst>
                  <a:ext uri="http://customooxmlschemas.google.com/">
                    <go:slidesCustomData xmlns:go="http://customooxmlschemas.google.com/" textRoundtripDataId="1"/>
                  </a:ext>
                </a:extLst>
              </a:rPr>
              <a:t>Document ingestion: Load documents with sentence boundaries preserved</a:t>
            </a:r>
            <a:endParaRPr>
              <a:extLst>
                <a:ext uri="http://customooxmlschemas.google.com/">
                  <go:slidesCustomData xmlns:go="http://customooxmlschemas.google.com/" textRoundtripDataId="2"/>
                </a:ext>
              </a:extLst>
            </a:endParaRPr>
          </a:p>
          <a:p>
            <a:pPr indent="-342900" lvl="0" marL="457200" rtl="0" algn="l">
              <a:spcBef>
                <a:spcPts val="0"/>
              </a:spcBef>
              <a:spcAft>
                <a:spcPts val="0"/>
              </a:spcAft>
              <a:buSzPts val="1800"/>
              <a:buAutoNum type="arabicParenR"/>
            </a:pPr>
            <a:r>
              <a:rPr lang="en-US" sz="1800">
                <a:extLst>
                  <a:ext uri="http://customooxmlschemas.google.com/">
                    <go:slidesCustomData xmlns:go="http://customooxmlschemas.google.com/" textRoundtripDataId="3"/>
                  </a:ext>
                </a:extLst>
              </a:rPr>
              <a:t>Retrieval: BM25 lexical matching to retrieve top-k relevant documents</a:t>
            </a:r>
            <a:endParaRPr/>
          </a:p>
          <a:p>
            <a:pPr indent="-342900" lvl="0" marL="457200" rtl="0" algn="l">
              <a:spcBef>
                <a:spcPts val="0"/>
              </a:spcBef>
              <a:spcAft>
                <a:spcPts val="0"/>
              </a:spcAft>
              <a:buSzPts val="1800"/>
              <a:buAutoNum type="arabicParenR"/>
            </a:pPr>
            <a:r>
              <a:rPr lang="en-US" sz="1800"/>
              <a:t>Answer generation: LLM (</a:t>
            </a:r>
            <a:r>
              <a:rPr lang="en-US" sz="1800"/>
              <a:t>llama-3.1-8b-instant) </a:t>
            </a:r>
            <a:r>
              <a:rPr lang="en-US" sz="1800"/>
              <a:t>produces 2-4 sentence answer from top-ranked document</a:t>
            </a:r>
            <a:endParaRPr sz="1800"/>
          </a:p>
          <a:p>
            <a:pPr indent="-342900" lvl="0" marL="457200" rtl="0" algn="l">
              <a:spcBef>
                <a:spcPts val="0"/>
              </a:spcBef>
              <a:spcAft>
                <a:spcPts val="0"/>
              </a:spcAft>
              <a:buSzPts val="1800"/>
              <a:buAutoNum type="arabicParenR"/>
            </a:pPr>
            <a:r>
              <a:rPr lang="en-US" sz="1800"/>
              <a:t>Citation extraction: Word-overlap matching to identify evidence sentences</a:t>
            </a:r>
            <a:endParaRPr sz="1800"/>
          </a:p>
          <a:p>
            <a:pPr indent="-342900" lvl="0" marL="457200" rtl="0" algn="l">
              <a:spcBef>
                <a:spcPts val="0"/>
              </a:spcBef>
              <a:spcAft>
                <a:spcPts val="0"/>
              </a:spcAft>
              <a:buSzPts val="1800"/>
              <a:buAutoNum type="arabicParenR"/>
            </a:pPr>
            <a:r>
              <a:rPr lang="en-US" sz="1800"/>
              <a:t>Post-checks: Evidence thresholds; refusal if insufficient evidence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912f5ebe63_0_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Corpus &amp; QA dataset</a:t>
            </a:r>
            <a:endParaRPr/>
          </a:p>
        </p:txBody>
      </p:sp>
      <p:sp>
        <p:nvSpPr>
          <p:cNvPr id="127" name="Google Shape;127;g3912f5ebe63_0_4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800"/>
              <a:t>Corpus:</a:t>
            </a:r>
            <a:endParaRPr sz="1800"/>
          </a:p>
          <a:p>
            <a:pPr indent="-342900" lvl="0" marL="342900" rtl="0" algn="l">
              <a:spcBef>
                <a:spcPts val="0"/>
              </a:spcBef>
              <a:spcAft>
                <a:spcPts val="0"/>
              </a:spcAft>
              <a:buClr>
                <a:schemeClr val="dk1"/>
              </a:buClr>
              <a:buSzPts val="1800"/>
              <a:buChar char="•"/>
            </a:pPr>
            <a:r>
              <a:rPr lang="en-US" sz="1800"/>
              <a:t>1005 documents from CNN/DailyMail, Russia-Ukraine conflict articles, CIA World Factbook</a:t>
            </a:r>
            <a:endParaRPr sz="1800"/>
          </a:p>
          <a:p>
            <a:pPr indent="-342900" lvl="0" marL="342900" rtl="0" algn="l">
              <a:spcBef>
                <a:spcPts val="0"/>
              </a:spcBef>
              <a:spcAft>
                <a:spcPts val="0"/>
              </a:spcAft>
              <a:buSzPts val="1800"/>
              <a:buChar char="•"/>
            </a:pPr>
            <a:r>
              <a:rPr lang="en-US" sz="1800"/>
              <a:t>Mix of news articles, government reports, and reference materials</a:t>
            </a:r>
            <a:endParaRPr sz="1800"/>
          </a:p>
          <a:p>
            <a:pPr indent="-342900" lvl="0" marL="342900" rtl="0" algn="l">
              <a:spcBef>
                <a:spcPts val="0"/>
              </a:spcBef>
              <a:spcAft>
                <a:spcPts val="0"/>
              </a:spcAft>
              <a:buSzPts val="1800"/>
              <a:buChar char="•"/>
            </a:pPr>
            <a:r>
              <a:rPr lang="en-US" sz="1800">
                <a:extLst>
                  <a:ext uri="http://customooxmlschemas.google.com/">
                    <go:slidesCustomData xmlns:go="http://customooxmlschemas.google.com/" textRoundtripDataId="4"/>
                  </a:ext>
                </a:extLst>
              </a:rPr>
              <a:t> Documents stored with sentence boundaries preserved (sentence IDs: S1, S2, S3...)</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Dataset:</a:t>
            </a:r>
            <a:endParaRPr sz="1800"/>
          </a:p>
          <a:p>
            <a:pPr indent="-342900" lvl="0" marL="342900" rtl="0" algn="l">
              <a:spcBef>
                <a:spcPts val="360"/>
              </a:spcBef>
              <a:spcAft>
                <a:spcPts val="0"/>
              </a:spcAft>
              <a:buClr>
                <a:schemeClr val="dk1"/>
              </a:buClr>
              <a:buSzPts val="1800"/>
              <a:buChar char="•"/>
            </a:pPr>
            <a:r>
              <a:rPr lang="en-US" sz="1800"/>
              <a:t>24 train / 3 dev / 3 test examples </a:t>
            </a:r>
            <a:endParaRPr sz="1800"/>
          </a:p>
          <a:p>
            <a:pPr indent="-342900" lvl="0" marL="342900" rtl="0" algn="l">
              <a:spcBef>
                <a:spcPts val="360"/>
              </a:spcBef>
              <a:spcAft>
                <a:spcPts val="0"/>
              </a:spcAft>
              <a:buClr>
                <a:schemeClr val="dk1"/>
              </a:buClr>
              <a:buSzPts val="1800"/>
              <a:buChar char="•"/>
            </a:pPr>
            <a:r>
              <a:rPr lang="en-US" sz="1800"/>
              <a:t>E</a:t>
            </a:r>
            <a:r>
              <a:rPr lang="en-US" sz="1800"/>
              <a:t>ach JSONL entry: question, gold answer, evidence Sentence IDs, and 1–5 rubric</a:t>
            </a:r>
            <a:endParaRPr/>
          </a:p>
          <a:p>
            <a:pPr indent="-342900" lvl="0" marL="342900" rtl="0" algn="l">
              <a:spcBef>
                <a:spcPts val="360"/>
              </a:spcBef>
              <a:spcAft>
                <a:spcPts val="0"/>
              </a:spcAft>
              <a:buClr>
                <a:schemeClr val="dk1"/>
              </a:buClr>
              <a:buSzPts val="1800"/>
              <a:buChar char="•"/>
            </a:pPr>
            <a:r>
              <a:rPr lang="en-US" sz="1800"/>
              <a:t>Examples include edge cases: unanswerable, numeric-precision queries,</a:t>
            </a:r>
            <a:r>
              <a:rPr lang="en-US" sz="1800"/>
              <a:t> </a:t>
            </a:r>
            <a:r>
              <a:rPr lang="en-US" sz="1800"/>
              <a:t>multi-source syntheses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912f5ebe63_0_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extLst>
                  <a:ext uri="http://customooxmlschemas.google.com/">
                    <go:slidesCustomData xmlns:go="http://customooxmlschemas.google.com/" textRoundtripDataId="5"/>
                  </a:ext>
                </a:extLst>
              </a:rPr>
              <a:t>PDFs → text extraction, preserving sentence boundaries and metadata</a:t>
            </a:r>
            <a:endParaRPr>
              <a:extLst>
                <a:ext uri="http://customooxmlschemas.google.com/">
                  <go:slidesCustomData xmlns:go="http://customooxmlschemas.google.com/" textRoundtripDataId="6"/>
                </a:ext>
              </a:extLst>
            </a:endParaRPr>
          </a:p>
          <a:p>
            <a:pPr indent="-342900" lvl="0" marL="342900" rtl="0" algn="l">
              <a:spcBef>
                <a:spcPts val="360"/>
              </a:spcBef>
              <a:spcAft>
                <a:spcPts val="0"/>
              </a:spcAft>
              <a:buClr>
                <a:schemeClr val="dk1"/>
              </a:buClr>
              <a:buSzPts val="1800"/>
              <a:buChar char="•"/>
            </a:pPr>
            <a:r>
              <a:rPr lang="en-US" sz="1800">
                <a:extLst>
                  <a:ext uri="http://customooxmlschemas.google.com/">
                    <go:slidesCustomData xmlns:go="http://customooxmlschemas.google.com/" textRoundtripDataId="7"/>
                  </a:ext>
                </a:extLst>
              </a:rPr>
              <a:t>Store metadata: title, date, source type (govt/think tank/news), doc_id</a:t>
            </a:r>
            <a:endParaRPr sz="1800">
              <a:extLst>
                <a:ext uri="http://customooxmlschemas.google.com/">
                  <go:slidesCustomData xmlns:go="http://customooxmlschemas.google.com/" textRoundtripDataId="8"/>
                </a:ext>
              </a:extLst>
            </a:endParaRPr>
          </a:p>
          <a:p>
            <a:pPr indent="-342900" lvl="0" marL="342900" rtl="0" algn="l">
              <a:spcBef>
                <a:spcPts val="360"/>
              </a:spcBef>
              <a:spcAft>
                <a:spcPts val="0"/>
              </a:spcAft>
              <a:buClr>
                <a:schemeClr val="dk1"/>
              </a:buClr>
              <a:buSzPts val="1800"/>
              <a:buChar char="•"/>
            </a:pPr>
            <a:r>
              <a:rPr lang="en-US" sz="1800">
                <a:extLst>
                  <a:ext uri="http://customooxmlschemas.google.com/">
                    <go:slidesCustomData xmlns:go="http://customooxmlschemas.google.com/" textRoundtripDataId="9"/>
                  </a:ext>
                </a:extLst>
              </a:rPr>
              <a:t>Sentence IDs: S1, S2, S3, …</a:t>
            </a:r>
            <a:r>
              <a:rPr lang="en-US" sz="1800"/>
              <a:t> assigned to each sentence</a:t>
            </a:r>
            <a:endParaRPr sz="1800"/>
          </a:p>
          <a:p>
            <a:pPr indent="-342900" lvl="0" marL="342900" rtl="0" algn="l">
              <a:spcBef>
                <a:spcPts val="360"/>
              </a:spcBef>
              <a:spcAft>
                <a:spcPts val="0"/>
              </a:spcAft>
              <a:buSzPts val="1800"/>
              <a:buChar char="•"/>
            </a:pPr>
            <a:r>
              <a:rPr lang="en-US" sz="1800">
                <a:extLst>
                  <a:ext uri="http://customooxmlschemas.google.com/">
                    <go:slidesCustomData xmlns:go="http://customooxmlschemas.google.com/" textRoundtripDataId="10"/>
                  </a:ext>
                </a:extLst>
              </a:rPr>
              <a:t>Extracting snippets: Concatenate the top k sentences with highest overlapped with question with truncation</a:t>
            </a:r>
            <a:endParaRPr sz="1800">
              <a:extLst>
                <a:ext uri="http://customooxmlschemas.google.com/">
                  <go:slidesCustomData xmlns:go="http://customooxmlschemas.google.com/" textRoundtripDataId="11"/>
                </a:ext>
              </a:extLst>
            </a:endParaRPr>
          </a:p>
          <a:p>
            <a:pPr indent="-342900" lvl="0" marL="342900" rtl="0" algn="l">
              <a:spcBef>
                <a:spcPts val="360"/>
              </a:spcBef>
              <a:spcAft>
                <a:spcPts val="0"/>
              </a:spcAft>
              <a:buSzPts val="1800"/>
              <a:buChar char="•"/>
            </a:pPr>
            <a:r>
              <a:rPr lang="en-US" sz="1800">
                <a:extLst>
                  <a:ext uri="http://customooxmlschemas.google.com/">
                    <go:slidesCustomData xmlns:go="http://customooxmlschemas.google.com/" textRoundtripDataId="12"/>
                  </a:ext>
                </a:extLst>
              </a:rPr>
              <a:t>Output of </a:t>
            </a:r>
            <a:r>
              <a:rPr lang="en-US" sz="1800">
                <a:solidFill>
                  <a:srgbClr val="FF0000"/>
                </a:solidFill>
                <a:extLst>
                  <a:ext uri="http://customooxmlschemas.google.com/">
                    <go:slidesCustomData xmlns:go="http://customooxmlschemas.google.com/" textRoundtripDataId="13"/>
                  </a:ext>
                </a:extLst>
              </a:rPr>
              <a:t>load_documents:</a:t>
            </a:r>
            <a:endParaRPr sz="1800">
              <a:solidFill>
                <a:srgbClr val="FF0000"/>
              </a:solidFill>
              <a:extLst>
                <a:ext uri="http://customooxmlschemas.google.com/">
                  <go:slidesCustomData xmlns:go="http://customooxmlschemas.google.com/" textRoundtripDataId="14"/>
                </a:ext>
              </a:extLst>
            </a:endParaRPr>
          </a:p>
          <a:p>
            <a:pPr indent="-285750" lvl="1" marL="742950" rtl="0" algn="l">
              <a:spcBef>
                <a:spcPts val="360"/>
              </a:spcBef>
              <a:spcAft>
                <a:spcPts val="0"/>
              </a:spcAft>
              <a:buSzPts val="1800"/>
              <a:buChar char="–"/>
            </a:pPr>
            <a:r>
              <a:rPr lang="en-US" sz="1800">
                <a:extLst>
                  <a:ext uri="http://customooxmlschemas.google.com/">
                    <go:slidesCustomData xmlns:go="http://customooxmlschemas.google.com/" textRoundtripDataId="15"/>
                  </a:ext>
                </a:extLst>
              </a:rPr>
              <a:t>doc_texts (string of texts for BM25 index)</a:t>
            </a:r>
            <a:endParaRPr sz="1800">
              <a:extLst>
                <a:ext uri="http://customooxmlschemas.google.com/">
                  <go:slidesCustomData xmlns:go="http://customooxmlschemas.google.com/" textRoundtripDataId="16"/>
                </a:ext>
              </a:extLst>
            </a:endParaRPr>
          </a:p>
          <a:p>
            <a:pPr indent="-285750" lvl="1" marL="742950" rtl="0" algn="l">
              <a:spcBef>
                <a:spcPts val="360"/>
              </a:spcBef>
              <a:spcAft>
                <a:spcPts val="0"/>
              </a:spcAft>
              <a:buSzPts val="1800"/>
              <a:buChar char="–"/>
            </a:pPr>
            <a:r>
              <a:rPr lang="en-US" sz="1800">
                <a:extLst>
                  <a:ext uri="http://customooxmlschemas.google.com/">
                    <go:slidesCustomData xmlns:go="http://customooxmlschemas.google.com/" textRoundtripDataId="17"/>
                  </a:ext>
                </a:extLst>
              </a:rPr>
              <a:t>doc_ids</a:t>
            </a:r>
            <a:endParaRPr sz="1800">
              <a:extLst>
                <a:ext uri="http://customooxmlschemas.google.com/">
                  <go:slidesCustomData xmlns:go="http://customooxmlschemas.google.com/" textRoundtripDataId="18"/>
                </a:ext>
              </a:extLst>
            </a:endParaRPr>
          </a:p>
          <a:p>
            <a:pPr indent="-285750" lvl="1" marL="742950" rtl="0" algn="l">
              <a:spcBef>
                <a:spcPts val="360"/>
              </a:spcBef>
              <a:spcAft>
                <a:spcPts val="0"/>
              </a:spcAft>
              <a:buSzPts val="1800"/>
              <a:buChar char="–"/>
            </a:pPr>
            <a:r>
              <a:rPr lang="en-US" sz="1800">
                <a:extLst>
                  <a:ext uri="http://customooxmlschemas.google.com/">
                    <go:slidesCustomData xmlns:go="http://customooxmlschemas.google.com/" textRoundtripDataId="19"/>
                  </a:ext>
                </a:extLst>
              </a:rPr>
              <a:t>doc_structures (meta-data)</a:t>
            </a:r>
            <a:endParaRPr sz="1800"/>
          </a:p>
          <a:p>
            <a:pPr indent="0" lvl="0" marL="0" rtl="0" algn="l">
              <a:spcBef>
                <a:spcPts val="360"/>
              </a:spcBef>
              <a:spcAft>
                <a:spcPts val="0"/>
              </a:spcAft>
              <a:buNone/>
            </a:pPr>
            <a:r>
              <a:t/>
            </a:r>
            <a:endParaRPr sz="1800"/>
          </a:p>
        </p:txBody>
      </p:sp>
      <p:sp>
        <p:nvSpPr>
          <p:cNvPr id="134" name="Google Shape;134;g3912f5ebe63_0_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Ingest </a:t>
            </a:r>
            <a:r>
              <a:rPr lang="en-US"/>
              <a:t>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912f5ebe63_0_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Evaluation Overview</a:t>
            </a:r>
            <a:endParaRPr/>
          </a:p>
        </p:txBody>
      </p:sp>
      <p:sp>
        <p:nvSpPr>
          <p:cNvPr id="141" name="Google Shape;141;g3912f5ebe63_0_6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800"/>
              <a:t>T</a:t>
            </a:r>
            <a:r>
              <a:rPr lang="en-US" sz="1800"/>
              <a:t>hree dimensions: </a:t>
            </a:r>
            <a:endParaRPr sz="1800"/>
          </a:p>
          <a:p>
            <a:pPr indent="-342900" lvl="0" marL="457200" rtl="0" algn="l">
              <a:spcBef>
                <a:spcPts val="0"/>
              </a:spcBef>
              <a:spcAft>
                <a:spcPts val="0"/>
              </a:spcAft>
              <a:buSzPts val="1800"/>
              <a:buAutoNum type="arabicPeriod"/>
            </a:pPr>
            <a:r>
              <a:rPr lang="en-US" sz="1800"/>
              <a:t>Retrieval accuracy: Recall@1, Recall@5 (whether gold document is in top-k)</a:t>
            </a:r>
            <a:endParaRPr sz="1800"/>
          </a:p>
          <a:p>
            <a:pPr indent="-342900" lvl="0" marL="457200" rtl="0" algn="l">
              <a:spcBef>
                <a:spcPts val="0"/>
              </a:spcBef>
              <a:spcAft>
                <a:spcPts val="0"/>
              </a:spcAft>
              <a:buSzPts val="1800"/>
              <a:buAutoNum type="arabicPeriod"/>
            </a:pPr>
            <a:r>
              <a:rPr lang="en-US" sz="1800"/>
              <a:t>Citation accuracy: Precision, Recall, F1 based on exact sentence ID matching</a:t>
            </a:r>
            <a:endParaRPr sz="1800"/>
          </a:p>
          <a:p>
            <a:pPr indent="-342900" lvl="0" marL="457200" rtl="0" algn="l">
              <a:spcBef>
                <a:spcPts val="0"/>
              </a:spcBef>
              <a:spcAft>
                <a:spcPts val="0"/>
              </a:spcAft>
              <a:buSzPts val="1800"/>
              <a:buAutoNum type="arabicPeriod"/>
            </a:pPr>
            <a:r>
              <a:rPr lang="en-US" sz="1800"/>
              <a:t>Answer quality: LLM-as-judge (1-5 rubric)</a:t>
            </a:r>
            <a:endParaRPr sz="1800"/>
          </a:p>
          <a:p>
            <a:pPr indent="0" lvl="0" marL="457200" rtl="0" algn="l">
              <a:spcBef>
                <a:spcPts val="0"/>
              </a:spcBef>
              <a:spcAft>
                <a:spcPts val="0"/>
              </a:spcAft>
              <a:buNone/>
            </a:pPr>
            <a:r>
              <a:t/>
            </a:r>
            <a:endParaRPr sz="1800"/>
          </a:p>
          <a:p>
            <a:pPr indent="-342900" lvl="0" marL="342900" rtl="0" algn="l">
              <a:spcBef>
                <a:spcPts val="360"/>
              </a:spcBef>
              <a:spcAft>
                <a:spcPts val="0"/>
              </a:spcAft>
              <a:buClr>
                <a:schemeClr val="dk1"/>
              </a:buClr>
              <a:buSzPts val="1800"/>
              <a:buChar char="•"/>
            </a:pPr>
            <a:r>
              <a:rPr lang="en-US" sz="1800"/>
              <a:t>Primary combined score: c_i = λ * a_i + (1−λ) * e_i, where a_i ∈ [0,1] (rubric score normalized) and e_i ∈ [0,1] (evidence score - gold vs predicted word overlap).</a:t>
            </a:r>
            <a:endParaRPr sz="1800"/>
          </a:p>
          <a:p>
            <a:pPr indent="-342900" lvl="0" marL="342900" rtl="0" algn="l">
              <a:spcBef>
                <a:spcPts val="360"/>
              </a:spcBef>
              <a:spcAft>
                <a:spcPts val="0"/>
              </a:spcAft>
              <a:buClr>
                <a:schemeClr val="dk1"/>
              </a:buClr>
              <a:buSzPts val="1800"/>
              <a:buChar char="•"/>
            </a:pPr>
            <a:r>
              <a:rPr lang="en-US" sz="1800"/>
              <a:t>Special-case: unanswerable questions get c_i = 1 if grader gives perfect refusal (Ai=5), else 0.</a:t>
            </a:r>
            <a:endParaRPr sz="1800"/>
          </a:p>
          <a:p>
            <a:pPr indent="0" lvl="0" marL="0" rtl="0" algn="l">
              <a:spcBef>
                <a:spcPts val="36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912f5ebe63_0_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Simple Baseline: (</a:t>
            </a:r>
            <a:r>
              <a:rPr lang="en-US" sz="4400">
                <a:solidFill>
                  <a:schemeClr val="dk1"/>
                </a:solidFill>
                <a:latin typeface="Calibri"/>
                <a:ea typeface="Calibri"/>
                <a:cs typeface="Calibri"/>
                <a:sym typeface="Calibri"/>
              </a:rPr>
              <a:t>BM25 </a:t>
            </a:r>
            <a:r>
              <a:rPr lang="en-US"/>
              <a:t>Retrieval)</a:t>
            </a:r>
            <a:endParaRPr/>
          </a:p>
        </p:txBody>
      </p:sp>
      <p:sp>
        <p:nvSpPr>
          <p:cNvPr id="148" name="Google Shape;148;g3912f5ebe63_0_2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800">
                <a:extLst>
                  <a:ext uri="http://customooxmlschemas.google.com/">
                    <go:slidesCustomData xmlns:go="http://customooxmlschemas.google.com/" textRoundtripDataId="20"/>
                  </a:ext>
                </a:extLst>
              </a:rPr>
              <a:t>BM25 Lexical Matching</a:t>
            </a:r>
            <a:endParaRPr sz="1800">
              <a:extLst>
                <a:ext uri="http://customooxmlschemas.google.com/">
                  <go:slidesCustomData xmlns:go="http://customooxmlschemas.google.com/" textRoundtripDataId="21"/>
                </a:ext>
              </a:extLst>
            </a:endParaRPr>
          </a:p>
          <a:p>
            <a:pPr indent="-342900" lvl="0" marL="342900" marR="0" rtl="0" algn="l">
              <a:lnSpc>
                <a:spcPct val="100000"/>
              </a:lnSpc>
              <a:spcBef>
                <a:spcPts val="360"/>
              </a:spcBef>
              <a:spcAft>
                <a:spcPts val="0"/>
              </a:spcAft>
              <a:buSzPts val="1800"/>
              <a:buChar char="•"/>
            </a:pPr>
            <a:r>
              <a:rPr lang="en-US" sz="1800">
                <a:extLst>
                  <a:ext uri="http://customooxmlschemas.google.com/">
                    <go:slidesCustomData xmlns:go="http://customooxmlschemas.google.com/" textRoundtripDataId="22"/>
                  </a:ext>
                </a:extLst>
              </a:rPr>
              <a:t>Lexical matching: captures queries with numbers, proper nouns, and exact term matches</a:t>
            </a:r>
            <a:endParaRPr sz="1800"/>
          </a:p>
          <a:p>
            <a:pPr indent="-342900" lvl="0" marL="342900" marR="0" rtl="0" algn="l">
              <a:lnSpc>
                <a:spcPct val="100000"/>
              </a:lnSpc>
              <a:spcBef>
                <a:spcPts val="360"/>
              </a:spcBef>
              <a:spcAft>
                <a:spcPts val="0"/>
              </a:spcAft>
              <a:buSzPts val="1800"/>
              <a:buChar char="•"/>
            </a:pPr>
            <a:r>
              <a:rPr lang="en-US" sz="1800"/>
              <a:t>Tokenization: lowercase, alphanumeric filtering via NLTK</a:t>
            </a:r>
            <a:endParaRPr sz="1800"/>
          </a:p>
          <a:p>
            <a:pPr indent="-342900" lvl="0" marL="342900" marR="0" rtl="0" algn="l">
              <a:lnSpc>
                <a:spcPct val="100000"/>
              </a:lnSpc>
              <a:spcBef>
                <a:spcPts val="360"/>
              </a:spcBef>
              <a:spcAft>
                <a:spcPts val="0"/>
              </a:spcAft>
              <a:buSzPts val="1800"/>
              <a:buChar char="•"/>
            </a:pPr>
            <a:r>
              <a:rPr lang="en-US" sz="1800"/>
              <a:t>Ranking: BM25Okapi scores → retrieve top-5 documents by query word overlap</a:t>
            </a:r>
            <a:endParaRPr sz="1800"/>
          </a:p>
          <a:p>
            <a:pPr indent="-342900" lvl="0" marL="342900" marR="0" rtl="0" algn="l">
              <a:lnSpc>
                <a:spcPct val="100000"/>
              </a:lnSpc>
              <a:spcBef>
                <a:spcPts val="360"/>
              </a:spcBef>
              <a:spcAft>
                <a:spcPts val="0"/>
              </a:spcAft>
              <a:buSzPts val="1800"/>
              <a:buChar char="•"/>
            </a:pPr>
            <a:r>
              <a:rPr lang="en-US" sz="1800"/>
              <a:t>Why BM25? Fast, interpretable, widely used</a:t>
            </a:r>
            <a:endParaRPr sz="1800"/>
          </a:p>
          <a:p>
            <a:pPr indent="0" lvl="0" marL="0" marR="0" rtl="0" algn="l">
              <a:lnSpc>
                <a:spcPct val="100000"/>
              </a:lnSpc>
              <a:spcBef>
                <a:spcPts val="360"/>
              </a:spcBef>
              <a:spcAft>
                <a:spcPts val="0"/>
              </a:spcAft>
              <a:buNone/>
            </a:pPr>
            <a:r>
              <a:t/>
            </a:r>
            <a:endParaRPr sz="1800"/>
          </a:p>
          <a:p>
            <a:pPr indent="0" lvl="0" marL="0" marR="0" rtl="0" algn="l">
              <a:lnSpc>
                <a:spcPct val="100000"/>
              </a:lnSpc>
              <a:spcBef>
                <a:spcPts val="360"/>
              </a:spcBef>
              <a:spcAft>
                <a:spcPts val="0"/>
              </a:spcAft>
              <a:buNone/>
            </a:pPr>
            <a:r>
              <a:rPr lang="en-US" sz="1800"/>
              <a:t>Answer Construction</a:t>
            </a:r>
            <a:endParaRPr sz="1800"/>
          </a:p>
          <a:p>
            <a:pPr indent="-342900" lvl="0" marL="342900" marR="0" rtl="0" algn="l">
              <a:lnSpc>
                <a:spcPct val="100000"/>
              </a:lnSpc>
              <a:spcBef>
                <a:spcPts val="360"/>
              </a:spcBef>
              <a:spcAft>
                <a:spcPts val="0"/>
              </a:spcAft>
              <a:buSzPts val="1800"/>
              <a:buChar char="•"/>
            </a:pPr>
            <a:r>
              <a:rPr lang="en-US" sz="1800"/>
              <a:t>Extract snippet from top-ranked document</a:t>
            </a:r>
            <a:endParaRPr sz="1800"/>
          </a:p>
          <a:p>
            <a:pPr indent="-342900" lvl="0" marL="342900" marR="0" rtl="0" algn="l">
              <a:lnSpc>
                <a:spcPct val="100000"/>
              </a:lnSpc>
              <a:spcBef>
                <a:spcPts val="360"/>
              </a:spcBef>
              <a:spcAft>
                <a:spcPts val="0"/>
              </a:spcAft>
              <a:buSzPts val="1800"/>
              <a:buChar char="•"/>
            </a:pPr>
            <a:r>
              <a:rPr lang="en-US" sz="1800"/>
              <a:t>Sentence IDs selected by top overlap with query</a:t>
            </a:r>
            <a:endParaRPr sz="1800"/>
          </a:p>
          <a:p>
            <a:pPr indent="-342900" lvl="0" marL="342900" marR="0" rtl="0" algn="l">
              <a:lnSpc>
                <a:spcPct val="100000"/>
              </a:lnSpc>
              <a:spcBef>
                <a:spcPts val="360"/>
              </a:spcBef>
              <a:spcAft>
                <a:spcPts val="0"/>
              </a:spcAft>
              <a:buSzPts val="1800"/>
              <a:buChar char="•"/>
            </a:pPr>
            <a:r>
              <a:rPr lang="en-US" sz="1800"/>
              <a:t>Citations: Sentence IDs with top word overlap (e.g., cnn_dailymail__123_S7)</a:t>
            </a:r>
            <a:endParaRPr sz="1800"/>
          </a:p>
          <a:p>
            <a:pPr indent="0" lvl="0" marL="0" marR="0" rtl="0" algn="l">
              <a:lnSpc>
                <a:spcPct val="100000"/>
              </a:lnSpc>
              <a:spcBef>
                <a:spcPts val="360"/>
              </a:spcBef>
              <a:spcAft>
                <a:spcPts val="0"/>
              </a:spcAft>
              <a:buNone/>
            </a:pPr>
            <a:r>
              <a:t/>
            </a:r>
            <a:endParaRPr sz="1800"/>
          </a:p>
          <a:p>
            <a:pPr indent="0" lvl="0" marL="0" marR="0" rtl="0" algn="l">
              <a:lnSpc>
                <a:spcPct val="100000"/>
              </a:lnSpc>
              <a:spcBef>
                <a:spcPts val="360"/>
              </a:spcBef>
              <a:spcAft>
                <a:spcPts val="0"/>
              </a:spcAft>
              <a:buNone/>
            </a:pPr>
            <a:r>
              <a:rPr lang="en-US" sz="1800"/>
              <a:t>Performance (train set): Recall@1: 58.33%, Recall@5: 66.67%, Citation F1: 0.2224</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912f5ebe63_0_4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800"/>
              <a:t>Answer Generation:</a:t>
            </a:r>
            <a:endParaRPr sz="1800"/>
          </a:p>
          <a:p>
            <a:pPr indent="-342900" lvl="0" marL="342900" rtl="0" algn="l">
              <a:spcBef>
                <a:spcPts val="0"/>
              </a:spcBef>
              <a:spcAft>
                <a:spcPts val="0"/>
              </a:spcAft>
              <a:buSzPts val="1800"/>
              <a:buChar char="•"/>
            </a:pPr>
            <a:r>
              <a:rPr lang="en-US" sz="1800"/>
              <a:t>LLM  generates short paraphrased answer (2–4 sentences)</a:t>
            </a:r>
            <a:endParaRPr sz="1800"/>
          </a:p>
          <a:p>
            <a:pPr indent="-342900" lvl="0" marL="342900" rtl="0" algn="l">
              <a:spcBef>
                <a:spcPts val="0"/>
              </a:spcBef>
              <a:spcAft>
                <a:spcPts val="0"/>
              </a:spcAft>
              <a:buClr>
                <a:schemeClr val="dk1"/>
              </a:buClr>
              <a:buSzPts val="1800"/>
              <a:buChar char="•"/>
            </a:pPr>
            <a:r>
              <a:rPr lang="en-US" sz="1800"/>
              <a:t>Model: llama-3.1-8b-instant via Groq API</a:t>
            </a:r>
            <a:endParaRPr sz="1800"/>
          </a:p>
          <a:p>
            <a:pPr indent="-342900" lvl="0" marL="342900" rtl="0" algn="l">
              <a:spcBef>
                <a:spcPts val="0"/>
              </a:spcBef>
              <a:spcAft>
                <a:spcPts val="0"/>
              </a:spcAft>
              <a:buSzPts val="1800"/>
              <a:buChar char="•"/>
            </a:pPr>
            <a:r>
              <a:rPr lang="en-US" sz="1800"/>
              <a:t>No retrieval or document access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Prompt: </a:t>
            </a:r>
            <a:endParaRPr sz="1800"/>
          </a:p>
          <a:p>
            <a:pPr indent="0" lvl="0" marL="342900" rtl="0" algn="l">
              <a:spcBef>
                <a:spcPts val="0"/>
              </a:spcBef>
              <a:spcAft>
                <a:spcPts val="0"/>
              </a:spcAft>
              <a:buNone/>
            </a:pPr>
            <a:r>
              <a:t/>
            </a:r>
            <a:endParaRPr sz="1800"/>
          </a:p>
          <a:p>
            <a:pPr indent="0" lvl="0" marL="342900" rtl="0" algn="l">
              <a:spcBef>
                <a:spcPts val="0"/>
              </a:spcBef>
              <a:spcAft>
                <a:spcPts val="0"/>
              </a:spcAft>
              <a:buNone/>
            </a:pPr>
            <a:r>
              <a:t/>
            </a:r>
            <a:endParaRPr sz="1800"/>
          </a:p>
          <a:p>
            <a:pPr indent="0" lvl="0" marL="34290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360"/>
              </a:spcBef>
              <a:spcAft>
                <a:spcPts val="0"/>
              </a:spcAft>
              <a:buNone/>
            </a:pPr>
            <a:r>
              <a:rPr lang="en-US" sz="1800"/>
              <a:t>Performance (train set, 24 questions): Answer Score: 2.58/5, Evidence Score: 0.0833 (very low due to no citations), Combined Score: 0.30</a:t>
            </a:r>
            <a:endParaRPr/>
          </a:p>
        </p:txBody>
      </p:sp>
      <p:sp>
        <p:nvSpPr>
          <p:cNvPr id="155" name="Google Shape;155;g3912f5ebe63_0_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Strong Baseline (LLM Generation)</a:t>
            </a:r>
            <a:endParaRPr/>
          </a:p>
        </p:txBody>
      </p:sp>
      <p:pic>
        <p:nvPicPr>
          <p:cNvPr id="156" name="Google Shape;156;g3912f5ebe63_0_41" title="Screenshot 2025-12-02 at 1.22.38 PM.png"/>
          <p:cNvPicPr preferRelativeResize="0"/>
          <p:nvPr/>
        </p:nvPicPr>
        <p:blipFill>
          <a:blip r:embed="rId3">
            <a:alphaModFix/>
          </a:blip>
          <a:stretch>
            <a:fillRect/>
          </a:stretch>
        </p:blipFill>
        <p:spPr>
          <a:xfrm>
            <a:off x="1547800" y="2997823"/>
            <a:ext cx="4658609" cy="114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912f5ebe63_0_1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Edge Cases</a:t>
            </a:r>
            <a:endParaRPr/>
          </a:p>
        </p:txBody>
      </p:sp>
      <p:sp>
        <p:nvSpPr>
          <p:cNvPr id="163" name="Google Shape;163;g3912f5ebe63_0_10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Unanswerable questions or missing info → require correct refusal to avoid hallucination.</a:t>
            </a:r>
            <a:endParaRPr/>
          </a:p>
          <a:p>
            <a:pPr indent="-342900" lvl="0" marL="342900" rtl="0" algn="l">
              <a:spcBef>
                <a:spcPts val="360"/>
              </a:spcBef>
              <a:spcAft>
                <a:spcPts val="0"/>
              </a:spcAft>
              <a:buClr>
                <a:schemeClr val="dk1"/>
              </a:buClr>
              <a:buSzPts val="1800"/>
              <a:buChar char="•"/>
            </a:pPr>
            <a:r>
              <a:rPr lang="en-US" sz="1800"/>
              <a:t>Numeric precision requests (percentages, counts, dates) — demand exact evidence from sources.</a:t>
            </a:r>
            <a:endParaRPr/>
          </a:p>
          <a:p>
            <a:pPr indent="-342900" lvl="0" marL="342900" rtl="0" algn="l">
              <a:spcBef>
                <a:spcPts val="360"/>
              </a:spcBef>
              <a:spcAft>
                <a:spcPts val="0"/>
              </a:spcAft>
              <a:buClr>
                <a:schemeClr val="dk1"/>
              </a:buClr>
              <a:buSzPts val="1800"/>
              <a:buChar char="•"/>
            </a:pPr>
            <a:r>
              <a:rPr lang="en-US" sz="1800"/>
              <a:t>Contradictory sources — system should surface disagreements or refuse to synthesize unjustifiably.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913b7deb9b_0_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Extension 1 (RAG)</a:t>
            </a:r>
            <a:endParaRPr/>
          </a:p>
        </p:txBody>
      </p:sp>
      <p:sp>
        <p:nvSpPr>
          <p:cNvPr id="170" name="Google Shape;170;g3913b7deb9b_0_4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800"/>
              <a:t>Combine both baselines into a single RAG QA pipeline </a:t>
            </a:r>
            <a:endParaRPr sz="1800"/>
          </a:p>
          <a:p>
            <a:pPr indent="-342900" lvl="0" marL="342900" rtl="0" algn="l">
              <a:spcBef>
                <a:spcPts val="0"/>
              </a:spcBef>
              <a:spcAft>
                <a:spcPts val="0"/>
              </a:spcAft>
              <a:buSzPts val="1800"/>
              <a:buChar char="•"/>
            </a:pPr>
            <a:r>
              <a:rPr lang="en-US" sz="1800"/>
              <a:t>Retrieval</a:t>
            </a:r>
            <a:r>
              <a:rPr lang="en-US" sz="1800"/>
              <a:t>: </a:t>
            </a:r>
            <a:r>
              <a:rPr lang="en-US" sz="1800"/>
              <a:t>BM25 retrieves top-5 documents</a:t>
            </a:r>
            <a:endParaRPr sz="1800"/>
          </a:p>
          <a:p>
            <a:pPr indent="-342900" lvl="0" marL="342900" rtl="0" algn="l">
              <a:spcBef>
                <a:spcPts val="0"/>
              </a:spcBef>
              <a:spcAft>
                <a:spcPts val="0"/>
              </a:spcAft>
              <a:buSzPts val="1800"/>
              <a:buChar char="•"/>
            </a:pPr>
            <a:r>
              <a:rPr lang="en-US" sz="1800"/>
              <a:t>Answer generation: Top-ranked document truncated and passed to LLM as context → LLM (llama-3.1-8b-instant) generates 2-4 sentence answer from document</a:t>
            </a:r>
            <a:endParaRPr sz="1800"/>
          </a:p>
          <a:p>
            <a:pPr indent="-342900" lvl="0" marL="342900" rtl="0" algn="l">
              <a:spcBef>
                <a:spcPts val="0"/>
              </a:spcBef>
              <a:spcAft>
                <a:spcPts val="0"/>
              </a:spcAft>
              <a:buSzPts val="1800"/>
              <a:buChar char="•"/>
            </a:pPr>
            <a:r>
              <a:rPr lang="en-US" sz="1800"/>
              <a:t> Citation extraction: Word-overlap matching extracts top-3 evidence sentences</a:t>
            </a:r>
            <a:endParaRPr sz="1800"/>
          </a:p>
          <a:p>
            <a:pPr indent="-342900" lvl="0" marL="342900" rtl="0" algn="l">
              <a:spcBef>
                <a:spcPts val="0"/>
              </a:spcBef>
              <a:spcAft>
                <a:spcPts val="0"/>
              </a:spcAft>
              <a:buSzPts val="1800"/>
              <a:buChar char="•"/>
            </a:pPr>
            <a:r>
              <a:rPr lang="en-US" sz="1800"/>
              <a:t> Refusal: LLM refuses if document lacks sufficient information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Prompt:</a:t>
            </a:r>
            <a:endParaRPr sz="1800"/>
          </a:p>
          <a:p>
            <a:pPr indent="0" lvl="0" marL="0" rtl="0" algn="l">
              <a:spcBef>
                <a:spcPts val="0"/>
              </a:spcBef>
              <a:spcAft>
                <a:spcPts val="0"/>
              </a:spcAft>
              <a:buNone/>
            </a:pPr>
            <a:r>
              <a:t/>
            </a:r>
            <a:endParaRPr sz="1800"/>
          </a:p>
          <a:p>
            <a:pPr indent="0" lvl="0" marL="342900" rtl="0" algn="l">
              <a:spcBef>
                <a:spcPts val="0"/>
              </a:spcBef>
              <a:spcAft>
                <a:spcPts val="0"/>
              </a:spcAft>
              <a:buNone/>
            </a:pPr>
            <a:r>
              <a:t/>
            </a:r>
            <a:endParaRPr sz="1800"/>
          </a:p>
        </p:txBody>
      </p:sp>
      <p:pic>
        <p:nvPicPr>
          <p:cNvPr id="171" name="Google Shape;171;g3913b7deb9b_0_46" title="Screenshot 2025-12-02 at 2.15.36 PM.png"/>
          <p:cNvPicPr preferRelativeResize="0"/>
          <p:nvPr/>
        </p:nvPicPr>
        <p:blipFill>
          <a:blip r:embed="rId3">
            <a:alphaModFix/>
          </a:blip>
          <a:stretch>
            <a:fillRect/>
          </a:stretch>
        </p:blipFill>
        <p:spPr>
          <a:xfrm>
            <a:off x="1547826" y="3643327"/>
            <a:ext cx="4571999" cy="2074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913b7deb9b_0_7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US" sz="1800"/>
              <a:t>Combine both baselines into a single RAG QA pipeline </a:t>
            </a:r>
            <a:endParaRPr sz="1800"/>
          </a:p>
          <a:p>
            <a:pPr indent="-342900" lvl="0" marL="342900" rtl="0" algn="l">
              <a:spcBef>
                <a:spcPts val="0"/>
              </a:spcBef>
              <a:spcAft>
                <a:spcPts val="0"/>
              </a:spcAft>
              <a:buSzPts val="1800"/>
              <a:buChar char="•"/>
            </a:pPr>
            <a:r>
              <a:rPr lang="en-US" sz="1800"/>
              <a:t>Retrieval: BM25 retrieves top-5 documents</a:t>
            </a:r>
            <a:endParaRPr sz="1800"/>
          </a:p>
          <a:p>
            <a:pPr indent="-342900" lvl="0" marL="342900" rtl="0" algn="l">
              <a:spcBef>
                <a:spcPts val="0"/>
              </a:spcBef>
              <a:spcAft>
                <a:spcPts val="0"/>
              </a:spcAft>
              <a:buSzPts val="1800"/>
              <a:buChar char="•"/>
            </a:pPr>
            <a:r>
              <a:rPr lang="en-US" sz="1800"/>
              <a:t>Answer generation: Top-ranked document truncated and passed to LLM as context → LLM (llama-3.1-8b-instant) generates 2-4 sentence answer from document</a:t>
            </a:r>
            <a:endParaRPr sz="1800"/>
          </a:p>
          <a:p>
            <a:pPr indent="-342900" lvl="0" marL="342900" rtl="0" algn="l">
              <a:spcBef>
                <a:spcPts val="0"/>
              </a:spcBef>
              <a:spcAft>
                <a:spcPts val="0"/>
              </a:spcAft>
              <a:buSzPts val="1800"/>
              <a:buChar char="•"/>
            </a:pPr>
            <a:r>
              <a:rPr lang="en-US" sz="1800"/>
              <a:t> Citation extraction: Word-overlap matching extracts top-3 evidence sentences</a:t>
            </a:r>
            <a:endParaRPr sz="1800"/>
          </a:p>
          <a:p>
            <a:pPr indent="-342900" lvl="0" marL="342900" rtl="0" algn="l">
              <a:spcBef>
                <a:spcPts val="0"/>
              </a:spcBef>
              <a:spcAft>
                <a:spcPts val="0"/>
              </a:spcAft>
              <a:buSzPts val="1800"/>
              <a:buChar char="•"/>
            </a:pPr>
            <a:r>
              <a:rPr lang="en-US" sz="1800"/>
              <a:t> Refusal: LLM refuses if document lacks sufficient information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Results (train set):</a:t>
            </a:r>
            <a:endParaRPr sz="1800"/>
          </a:p>
          <a:p>
            <a:pPr indent="-342900" lvl="0" marL="342900" rtl="0" algn="l">
              <a:spcBef>
                <a:spcPts val="0"/>
              </a:spcBef>
              <a:spcAft>
                <a:spcPts val="0"/>
              </a:spcAft>
              <a:buSzPts val="1800"/>
              <a:buChar char="•"/>
            </a:pPr>
            <a:r>
              <a:rPr lang="en-US" sz="1800"/>
              <a:t>Retrieval:</a:t>
            </a:r>
            <a:endParaRPr sz="1800"/>
          </a:p>
          <a:p>
            <a:pPr indent="-285750" lvl="1" marL="742950" rtl="0" algn="l">
              <a:spcBef>
                <a:spcPts val="0"/>
              </a:spcBef>
              <a:spcAft>
                <a:spcPts val="0"/>
              </a:spcAft>
              <a:buSzPts val="1800"/>
              <a:buChar char="–"/>
            </a:pPr>
            <a:r>
              <a:rPr lang="en-US" sz="1800"/>
              <a:t>Recall@1: 58.33%, Recall@5: 66.67%</a:t>
            </a:r>
            <a:endParaRPr sz="1800"/>
          </a:p>
          <a:p>
            <a:pPr indent="-285750" lvl="1" marL="742950" rtl="0" algn="l">
              <a:spcBef>
                <a:spcPts val="0"/>
              </a:spcBef>
              <a:spcAft>
                <a:spcPts val="0"/>
              </a:spcAft>
              <a:buSzPts val="1800"/>
              <a:buChar char="–"/>
            </a:pPr>
            <a:r>
              <a:rPr lang="en-US" sz="1800"/>
              <a:t>Citation </a:t>
            </a:r>
            <a:endParaRPr sz="1800"/>
          </a:p>
          <a:p>
            <a:pPr indent="-228600" lvl="2" marL="1143000" rtl="0" algn="l">
              <a:spcBef>
                <a:spcPts val="0"/>
              </a:spcBef>
              <a:spcAft>
                <a:spcPts val="0"/>
              </a:spcAft>
              <a:buSzPts val="1800"/>
              <a:buChar char="•"/>
            </a:pPr>
            <a:r>
              <a:rPr b="1" lang="en-US" sz="1800">
                <a:extLst>
                  <a:ext uri="http://customooxmlschemas.google.com/">
                    <go:slidesCustomData xmlns:go="http://customooxmlschemas.google.com/" textRoundtripDataId="23"/>
                  </a:ext>
                </a:extLst>
              </a:rPr>
              <a:t>F1</a:t>
            </a:r>
            <a:r>
              <a:rPr lang="en-US" sz="1800">
                <a:extLst>
                  <a:ext uri="http://customooxmlschemas.google.com/">
                    <go:slidesCustomData xmlns:go="http://customooxmlschemas.google.com/" textRoundtripDataId="24"/>
                  </a:ext>
                </a:extLst>
              </a:rPr>
              <a:t>: 0.2224 (identical to simple baseline)</a:t>
            </a:r>
            <a:endParaRPr sz="1800">
              <a:extLst>
                <a:ext uri="http://customooxmlschemas.google.com/">
                  <go:slidesCustomData xmlns:go="http://customooxmlschemas.google.com/" textRoundtripDataId="25"/>
                </a:ext>
              </a:extLst>
            </a:endParaRPr>
          </a:p>
          <a:p>
            <a:pPr indent="-228600" lvl="2" marL="1143000" rtl="0" algn="l">
              <a:spcBef>
                <a:spcPts val="0"/>
              </a:spcBef>
              <a:spcAft>
                <a:spcPts val="0"/>
              </a:spcAft>
              <a:buSzPts val="1800"/>
              <a:buChar char="•"/>
            </a:pPr>
            <a:r>
              <a:rPr b="1" lang="en-US" sz="1800">
                <a:extLst>
                  <a:ext uri="http://customooxmlschemas.google.com/">
                    <go:slidesCustomData xmlns:go="http://customooxmlschemas.google.com/" textRoundtripDataId="26"/>
                  </a:ext>
                </a:extLst>
              </a:rPr>
              <a:t>Precision</a:t>
            </a:r>
            <a:r>
              <a:rPr lang="en-US" sz="1800">
                <a:extLst>
                  <a:ext uri="http://customooxmlschemas.google.com/">
                    <go:slidesCustomData xmlns:go="http://customooxmlschemas.google.com/" textRoundtripDataId="27"/>
                  </a:ext>
                </a:extLst>
              </a:rPr>
              <a:t>: 0.3030</a:t>
            </a:r>
            <a:endParaRPr sz="1800">
              <a:extLst>
                <a:ext uri="http://customooxmlschemas.google.com/">
                  <go:slidesCustomData xmlns:go="http://customooxmlschemas.google.com/" textRoundtripDataId="28"/>
                </a:ext>
              </a:extLst>
            </a:endParaRPr>
          </a:p>
          <a:p>
            <a:pPr indent="-228600" lvl="2" marL="1143000" rtl="0" algn="l">
              <a:spcBef>
                <a:spcPts val="0"/>
              </a:spcBef>
              <a:spcAft>
                <a:spcPts val="0"/>
              </a:spcAft>
              <a:buSzPts val="1800"/>
              <a:buChar char="•"/>
            </a:pPr>
            <a:r>
              <a:rPr b="1" lang="en-US" sz="1800">
                <a:extLst>
                  <a:ext uri="http://customooxmlschemas.google.com/">
                    <go:slidesCustomData xmlns:go="http://customooxmlschemas.google.com/" textRoundtripDataId="29"/>
                  </a:ext>
                </a:extLst>
              </a:rPr>
              <a:t>Recall</a:t>
            </a:r>
            <a:r>
              <a:rPr lang="en-US" sz="1800">
                <a:extLst>
                  <a:ext uri="http://customooxmlschemas.google.com/">
                    <go:slidesCustomData xmlns:go="http://customooxmlschemas.google.com/" textRoundtripDataId="30"/>
                  </a:ext>
                </a:extLst>
              </a:rPr>
              <a:t>: 0.2307</a:t>
            </a:r>
            <a:endParaRPr sz="1800"/>
          </a:p>
          <a:p>
            <a:pPr indent="-342900" lvl="0" marL="342900" rtl="0" algn="l">
              <a:spcBef>
                <a:spcPts val="0"/>
              </a:spcBef>
              <a:spcAft>
                <a:spcPts val="0"/>
              </a:spcAft>
              <a:buSzPts val="1800"/>
              <a:buChar char="•"/>
            </a:pPr>
            <a:r>
              <a:rPr lang="en-US" sz="1800"/>
              <a:t>Answer Score: </a:t>
            </a:r>
            <a:r>
              <a:rPr lang="en-US" sz="1800">
                <a:extLst>
                  <a:ext uri="http://customooxmlschemas.google.com/">
                    <go:slidesCustomData xmlns:go="http://customooxmlschemas.google.com/" textRoundtripDataId="31"/>
                  </a:ext>
                </a:extLst>
              </a:rPr>
              <a:t>3.25/5</a:t>
            </a:r>
            <a:r>
              <a:rPr lang="en-US" sz="1800"/>
              <a:t> (26% improvement), Evidence Score: 0.3230 (+288% improvement), Combined Score: 0.4865 (+62% improvement)</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 Document grounding significantly improves answer quality</a:t>
            </a:r>
            <a:endParaRPr sz="1800"/>
          </a:p>
        </p:txBody>
      </p:sp>
      <p:sp>
        <p:nvSpPr>
          <p:cNvPr id="178" name="Google Shape;178;g3913b7deb9b_0_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Extension 1 (RAG)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912f5ebe63_0_10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280"/>
              </a:spcBef>
              <a:spcAft>
                <a:spcPts val="0"/>
              </a:spcAft>
              <a:buClr>
                <a:schemeClr val="dk1"/>
              </a:buClr>
              <a:buSzPts val="1400"/>
              <a:buFont typeface="Arial"/>
              <a:buChar char="•"/>
            </a:pPr>
            <a:r>
              <a:rPr lang="en-US" sz="1400"/>
              <a:t>Question: How did Russian officials publicly respond to accusations of default, and what rationale did they use to argue that the responsibility for non-payment lay outside Moscow's control?</a:t>
            </a:r>
            <a:endParaRPr sz="1400"/>
          </a:p>
          <a:p>
            <a:pPr indent="-342900" lvl="0" marL="342900" marR="0" rtl="0" algn="l">
              <a:lnSpc>
                <a:spcPct val="100000"/>
              </a:lnSpc>
              <a:spcBef>
                <a:spcPts val="280"/>
              </a:spcBef>
              <a:spcAft>
                <a:spcPts val="0"/>
              </a:spcAft>
              <a:buClr>
                <a:schemeClr val="dk1"/>
              </a:buClr>
              <a:buSzPts val="1400"/>
              <a:buFont typeface="Arial"/>
              <a:buChar char="•"/>
            </a:pPr>
            <a:r>
              <a:rPr lang="en-US" sz="1400"/>
              <a:t>Gold Answer: Russian officials rejected the idea that the country was in default and argued that they had sufficient funds to make the payments. [...]  This response was meant to shift blame outward and maintain the image of financial solvency.</a:t>
            </a:r>
            <a:endParaRPr sz="1400"/>
          </a:p>
          <a:p>
            <a:pPr indent="-342900" lvl="0" marL="342900" marR="0" rtl="0" algn="l">
              <a:lnSpc>
                <a:spcPct val="100000"/>
              </a:lnSpc>
              <a:spcBef>
                <a:spcPts val="280"/>
              </a:spcBef>
              <a:spcAft>
                <a:spcPts val="0"/>
              </a:spcAft>
              <a:buSzPts val="1400"/>
              <a:buChar char="•"/>
            </a:pPr>
            <a:r>
              <a:rPr lang="en-US" sz="1400"/>
              <a:t>System Output (Extension 1):</a:t>
            </a:r>
            <a:endParaRPr sz="1400"/>
          </a:p>
          <a:p>
            <a:pPr indent="-260350" lvl="1" marL="742950" marR="0" rtl="0" algn="l">
              <a:lnSpc>
                <a:spcPct val="100000"/>
              </a:lnSpc>
              <a:spcBef>
                <a:spcPts val="280"/>
              </a:spcBef>
              <a:spcAft>
                <a:spcPts val="0"/>
              </a:spcAft>
              <a:buSzPts val="1400"/>
              <a:buChar char="–"/>
            </a:pPr>
            <a:r>
              <a:rPr lang="en-US" sz="1400"/>
              <a:t>Retrieval: BM25 retrieves doc `russia-ukraine-conflict_2022-06-27T14_23_05Z` (score: 62.51, rank 1)</a:t>
            </a:r>
            <a:endParaRPr sz="1400"/>
          </a:p>
          <a:p>
            <a:pPr indent="-260350" lvl="1" marL="742950" marR="0" rtl="0" algn="l">
              <a:lnSpc>
                <a:spcPct val="100000"/>
              </a:lnSpc>
              <a:spcBef>
                <a:spcPts val="280"/>
              </a:spcBef>
              <a:spcAft>
                <a:spcPts val="0"/>
              </a:spcAft>
              <a:buSzPts val="1400"/>
              <a:buChar char="–"/>
            </a:pPr>
            <a:r>
              <a:rPr lang="en-US" sz="1400"/>
              <a:t>Generated answer: "Russian officials publicly responded to accusations of default by denying that the country was in default, with Vladimir Putin's spokesperson, Dmitry Peskov, calling the claims "absolutely unjustified". He further stated that it was "not our problem" that sanctions had prevented intermediaries from transferring the payments, implying that the responsibility for non-payment lay outside Moscow's control due to external sanctions."</a:t>
            </a:r>
            <a:endParaRPr sz="1400"/>
          </a:p>
          <a:p>
            <a:pPr indent="-260350" lvl="1" marL="742950" marR="0" rtl="0" algn="l">
              <a:lnSpc>
                <a:spcPct val="100000"/>
              </a:lnSpc>
              <a:spcBef>
                <a:spcPts val="280"/>
              </a:spcBef>
              <a:spcAft>
                <a:spcPts val="0"/>
              </a:spcAft>
              <a:buSzPts val="1400"/>
              <a:buChar char="–"/>
            </a:pPr>
            <a:r>
              <a:rPr lang="en-US" sz="1400"/>
              <a:t>Citations: Evidence sentences S19, S5, S7 (gold: S9, S11, S17)</a:t>
            </a:r>
            <a:endParaRPr sz="1400"/>
          </a:p>
          <a:p>
            <a:pPr indent="-342900" lvl="0" marL="342900" marR="0" rtl="0" algn="l">
              <a:lnSpc>
                <a:spcPct val="100000"/>
              </a:lnSpc>
              <a:spcBef>
                <a:spcPts val="280"/>
              </a:spcBef>
              <a:spcAft>
                <a:spcPts val="0"/>
              </a:spcAft>
              <a:buSzPts val="1400"/>
              <a:buChar char="•"/>
            </a:pPr>
            <a:r>
              <a:rPr lang="en-US" sz="1400"/>
              <a:t>Evaluation: Answer Score 5/5 (perfect), Evidence Score 0.21, Combined Score 0.61</a:t>
            </a:r>
            <a:endParaRPr sz="1400"/>
          </a:p>
        </p:txBody>
      </p:sp>
      <p:sp>
        <p:nvSpPr>
          <p:cNvPr id="185" name="Google Shape;185;g3912f5ebe63_0_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Example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913b7deb9b_0_1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Future Extensions*</a:t>
            </a:r>
            <a:endParaRPr/>
          </a:p>
        </p:txBody>
      </p:sp>
      <p:sp>
        <p:nvSpPr>
          <p:cNvPr id="192" name="Google Shape;192;g3913b7deb9b_0_10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lang="en-US" sz="1800">
                <a:solidFill>
                  <a:srgbClr val="000000"/>
                </a:solidFill>
              </a:rPr>
              <a:t>Retrieval:</a:t>
            </a:r>
            <a:endParaRPr sz="1800">
              <a:solidFill>
                <a:srgbClr val="000000"/>
              </a:solidFill>
            </a:endParaRPr>
          </a:p>
          <a:p>
            <a:pPr indent="-342900" lvl="0" marL="45720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rPr>
              <a:t>Hybrid lexical + semantic retrieval: Combine BM25 with dense embeddings (sentence-transformers) to broaden match criteria and nuance</a:t>
            </a:r>
            <a:endParaRPr sz="1800">
              <a:solidFill>
                <a:srgbClr val="000000"/>
              </a:solidFill>
            </a:endParaRPr>
          </a:p>
          <a:p>
            <a:pPr indent="-342900" lvl="0" marL="45720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rPr>
              <a:t>Cross-encoder reranking: Rerank BM25 top-20 with BERT cross-encoder for better precision</a:t>
            </a:r>
            <a:endParaRPr sz="1800">
              <a:solidFill>
                <a:srgbClr val="000000"/>
              </a:solidFill>
            </a:endParaRPr>
          </a:p>
          <a:p>
            <a:pPr indent="-342900" lvl="0" marL="45720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rPr>
              <a:t>Query expansion: Expand queries with synonyms before retrieval</a:t>
            </a:r>
            <a:endParaRPr sz="1800">
              <a:solidFill>
                <a:srgbClr val="000000"/>
              </a:solidFill>
            </a:endParaRPr>
          </a:p>
          <a:p>
            <a:pPr indent="0" lvl="0" marL="0" marR="0" rtl="0" algn="l">
              <a:lnSpc>
                <a:spcPct val="100000"/>
              </a:lnSpc>
              <a:spcBef>
                <a:spcPts val="0"/>
              </a:spcBef>
              <a:spcAft>
                <a:spcPts val="0"/>
              </a:spcAft>
              <a:buNone/>
            </a:pPr>
            <a:r>
              <a:t/>
            </a:r>
            <a:endParaRPr sz="1800">
              <a:solidFill>
                <a:srgbClr val="000000"/>
              </a:solidFill>
            </a:endParaRPr>
          </a:p>
          <a:p>
            <a:pPr indent="0" lvl="0" marL="0" marR="0" rtl="0" algn="l">
              <a:lnSpc>
                <a:spcPct val="100000"/>
              </a:lnSpc>
              <a:spcBef>
                <a:spcPts val="0"/>
              </a:spcBef>
              <a:spcAft>
                <a:spcPts val="0"/>
              </a:spcAft>
              <a:buNone/>
            </a:pPr>
            <a:r>
              <a:rPr lang="en-US" sz="1800">
                <a:solidFill>
                  <a:srgbClr val="000000"/>
                </a:solidFill>
              </a:rPr>
              <a:t>Answer Generation:</a:t>
            </a:r>
            <a:endParaRPr sz="1800">
              <a:solidFill>
                <a:srgbClr val="000000"/>
              </a:solidFill>
            </a:endParaRPr>
          </a:p>
          <a:p>
            <a:pPr indent="-342900" lvl="0" marL="45720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rPr>
              <a:t>Multi-document synthesis: Use top 3-5 documents, synthesize information across sources</a:t>
            </a:r>
            <a:endParaRPr sz="1800">
              <a:solidFill>
                <a:srgbClr val="000000"/>
              </a:solidFill>
            </a:endParaRPr>
          </a:p>
          <a:p>
            <a:pPr indent="-342900" lvl="0" marL="45720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rPr>
              <a:t>Passage summarization: Summarize passages before answer generation (rather than truncating)</a:t>
            </a:r>
            <a:endParaRPr sz="1800">
              <a:solidFill>
                <a:srgbClr val="000000"/>
              </a:solidFill>
            </a:endParaRPr>
          </a:p>
          <a:p>
            <a:pPr indent="0" lvl="0" marL="0" marR="0" rtl="0" algn="l">
              <a:lnSpc>
                <a:spcPct val="100000"/>
              </a:lnSpc>
              <a:spcBef>
                <a:spcPts val="0"/>
              </a:spcBef>
              <a:spcAft>
                <a:spcPts val="0"/>
              </a:spcAft>
              <a:buNone/>
            </a:pPr>
            <a:r>
              <a:t/>
            </a:r>
            <a:endParaRPr sz="1800">
              <a:solidFill>
                <a:srgbClr val="000000"/>
              </a:solidFill>
            </a:endParaRPr>
          </a:p>
          <a:p>
            <a:pPr indent="0" lvl="0" marL="0" marR="0" rtl="0" algn="l">
              <a:lnSpc>
                <a:spcPct val="100000"/>
              </a:lnSpc>
              <a:spcBef>
                <a:spcPts val="0"/>
              </a:spcBef>
              <a:spcAft>
                <a:spcPts val="0"/>
              </a:spcAft>
              <a:buNone/>
            </a:pPr>
            <a:r>
              <a:rPr lang="en-US" sz="1800">
                <a:solidFill>
                  <a:srgbClr val="000000"/>
                </a:solidFill>
              </a:rPr>
              <a:t>Citation Improvements:</a:t>
            </a:r>
            <a:endParaRPr sz="1800">
              <a:solidFill>
                <a:srgbClr val="000000"/>
              </a:solidFill>
            </a:endParaRPr>
          </a:p>
          <a:p>
            <a:pPr indent="-342900" lvl="0" marL="45720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rPr>
              <a:t>LLM-based citation extraction: LLM identifies relevant sentences semantically (from retrieved docs) rather than word overlap</a:t>
            </a:r>
            <a:endParaRPr sz="1800">
              <a:solidFill>
                <a:srgbClr val="000000"/>
              </a:solidFill>
            </a:endParaRPr>
          </a:p>
          <a:p>
            <a:pPr indent="0" lvl="0" marL="0" marR="0" rtl="0" algn="l">
              <a:lnSpc>
                <a:spcPct val="100000"/>
              </a:lnSpc>
              <a:spcBef>
                <a:spcPts val="0"/>
              </a:spcBef>
              <a:spcAft>
                <a:spcPts val="0"/>
              </a:spcAft>
              <a:buNone/>
            </a:pPr>
            <a:r>
              <a:t/>
            </a:r>
            <a:endParaRPr sz="1800">
              <a:solidFill>
                <a:srgbClr val="000000"/>
              </a:solidFill>
            </a:endParaRPr>
          </a:p>
          <a:p>
            <a:pPr indent="0" lvl="0" marL="0" marR="0" rtl="0" algn="l">
              <a:lnSpc>
                <a:spcPct val="100000"/>
              </a:lnSpc>
              <a:spcBef>
                <a:spcPts val="0"/>
              </a:spcBef>
              <a:spcAft>
                <a:spcPts val="0"/>
              </a:spcAft>
              <a:buNone/>
            </a:pPr>
            <a:r>
              <a:rPr lang="en-US" sz="1800">
                <a:solidFill>
                  <a:srgbClr val="000000"/>
                </a:solidFill>
              </a:rPr>
              <a:t>Architectural:</a:t>
            </a:r>
            <a:endParaRPr sz="1800">
              <a:solidFill>
                <a:srgbClr val="000000"/>
              </a:solidFill>
            </a:endParaRPr>
          </a:p>
          <a:p>
            <a:pPr indent="-342900" lvl="0" marL="45720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rPr>
              <a:t>Retrieve chunks instead of full documents → more granular retrieval.</a:t>
            </a:r>
            <a:endParaRPr sz="1800">
              <a:solidFill>
                <a:srgbClr val="000000"/>
              </a:solidFill>
            </a:endParaRPr>
          </a:p>
        </p:txBody>
      </p:sp>
      <p:sp>
        <p:nvSpPr>
          <p:cNvPr id="193" name="Google Shape;193;g3913b7deb9b_0_103"/>
          <p:cNvSpPr txBox="1"/>
          <p:nvPr>
            <p:ph idx="1" type="body"/>
          </p:nvPr>
        </p:nvSpPr>
        <p:spPr>
          <a:xfrm>
            <a:off x="6183925" y="6403754"/>
            <a:ext cx="2845500" cy="6594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lang="en-US" sz="1300">
                <a:solidFill>
                  <a:srgbClr val="000000"/>
                </a:solidFill>
              </a:rPr>
              <a:t>*will likely do 2-4 extensions, not all.</a:t>
            </a:r>
            <a:endParaRPr sz="13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